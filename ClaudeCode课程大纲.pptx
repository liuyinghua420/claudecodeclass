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Microsoft YaHei"/>
              </a:defRPr>
            </a:pPr>
            <a:r>
              <a:t>Claude Code 实战课程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A0B0"/>
                </a:solidFill>
                <a:latin typeface="Microsoft YaHei"/>
              </a:defRPr>
            </a:pPr>
            <a:r>
              <a:t>面向零基础成年人 · 8 次课 × 2 小时 · 从入门到做出自己的项目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08090"/>
                </a:solidFill>
                <a:latin typeface="Microsoft YaHei"/>
              </a:defRPr>
            </a:pPr>
            <a:r>
              <a:t>课程大纲 · 教学参考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08090"/>
                </a:solidFill>
                <a:latin typeface="Microsoft YaHei"/>
              </a:defRPr>
            </a:pPr>
            <a: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课程理念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39C12"/>
                </a:solidFill>
                <a:latin typeface="Microsoft YaHei"/>
              </a:defRPr>
            </a:pPr>
            <a:r>
              <a:t>这不是一门"学编程"的课。这是一门"学会指挥 AI 智能体"的课。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700">
                <a:solidFill>
                  <a:srgbClr val="E0E0E0"/>
                </a:solidFill>
                <a:latin typeface="Microsoft YaHei"/>
              </a:rPr>
              <a:t>核心认知转变：你不是在学编程语言，你是在学管理一个极快的初级开发者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700">
                <a:solidFill>
                  <a:srgbClr val="E0E0E0"/>
                </a:solidFill>
                <a:latin typeface="Microsoft YaHei"/>
              </a:rPr>
              <a:t>它能阅读整个代码库、做决策、执行任务 —— 你是经理，它是执行者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700">
                <a:solidFill>
                  <a:srgbClr val="E0E0E0"/>
                </a:solidFill>
                <a:latin typeface="Microsoft YaHei"/>
              </a:rPr>
              <a:t>核心技能：描述需求、迭代优化、用 AI 调试、评估输出结果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700">
                <a:solidFill>
                  <a:srgbClr val="E0E0E0"/>
                </a:solidFill>
                <a:latin typeface="Microsoft YaHei"/>
              </a:rPr>
              <a:t>市场空白：所有 vibe coding 课都在教 写提示词-&gt;得到代码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700">
                <a:solidFill>
                  <a:srgbClr val="E0E0E0"/>
                </a:solidFill>
                <a:latin typeface="Microsoft YaHei"/>
              </a:rPr>
              <a:t>没有人在教智能体管理思维（上下文管理、迭代优化、评估判断）</a:t>
            </a:r>
          </a:p>
          <a:p>
            <a:pPr>
              <a:spcAft>
                <a:spcPts val="800"/>
              </a:spcAft>
            </a:pPr>
            <a:r>
              <a:rPr sz="17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700">
                <a:solidFill>
                  <a:srgbClr val="E0E0E0"/>
                </a:solidFill>
                <a:latin typeface="Microsoft YaHei"/>
              </a:rPr>
              <a:t>这才是真正有价值的技能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课程路线图：8 次课总览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"哇"时刻 + 环境搭建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0"/>
                </a:solidFill>
                <a:latin typeface="Microsoft YaHei"/>
              </a:defRPr>
            </a:pPr>
            <a:r>
              <a:t>看到 AI 10 分钟做出网页，安装开发环境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AI 思维模型 + 初次动手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20116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0"/>
                </a:solidFill>
                <a:latin typeface="Microsoft YaHei"/>
              </a:defRPr>
            </a:pPr>
            <a:r>
              <a:t>三大思维模型，亲手用 Claude Code 做个人页面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51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651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小项目 1 · 上半场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0" y="265176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0"/>
                </a:solidFill>
                <a:latin typeface="Microsoft YaHei"/>
              </a:defRPr>
            </a:pPr>
            <a:r>
              <a:t>引导式构建日程规划器：拆需求、搭框架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9183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9183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小项目 1 · 下半场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29183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0"/>
                </a:solidFill>
                <a:latin typeface="Microsoft YaHei"/>
              </a:defRPr>
            </a:pPr>
            <a:r>
              <a:t>添加功能、调试打磨，完成第一个可用工具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931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39319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小项目 2 · 上半场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93192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0"/>
                </a:solidFill>
                <a:latin typeface="Microsoft YaHei"/>
              </a:defRPr>
            </a:pPr>
            <a:r>
              <a:t>从 4 个模板中选择，写简报，半引导式构建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572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572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小项目 2 · 下半场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80" y="45720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0"/>
                </a:solidFill>
                <a:latin typeface="Microsoft YaHei"/>
              </a:defRPr>
            </a:pPr>
            <a:r>
              <a:t>进阶技巧（Plan Mode），完成并展示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2120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21207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个人项目 · 你的想法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21207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0"/>
                </a:solidFill>
                <a:latin typeface="Microsoft YaHei"/>
              </a:defRPr>
            </a:pPr>
            <a:r>
              <a:t>创意工坊 + 构建冲刺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8521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852159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完成 + 演示日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5852159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0"/>
                </a:solidFill>
                <a:latin typeface="Microsoft YaHei"/>
              </a:defRPr>
            </a:pPr>
            <a:r>
              <a:t>打磨项目，2 分钟展示，庆祝成果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教学方法：三级脚手架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A0A0B0"/>
                </a:solidFill>
                <a:latin typeface="Microsoft YaHei"/>
              </a:defRPr>
            </a:pPr>
            <a:r>
              <a:t>从"手把手带"到"放手让你飞"的渐进式自主能力培养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引导式（第 3-4 次课）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老师逐步带领，先演示后跟做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每 10-15 分钟一个检查点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所有人做同一类型项目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个性化细节保持趣味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389120" y="21031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半引导式（第 5-6 次课）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2743200"/>
            <a:ext cx="3200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学员从模板出发独立完成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模板含说明 + 建议构建顺序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3-4 个里程碑检查点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老师巡场，按需帮助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1031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独立式（第 7-8 次课）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743200"/>
            <a:ext cx="3474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学员构思并构建自己的项目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提供创意菜单消除空白页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老师按需辅导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400">
                <a:solidFill>
                  <a:srgbClr val="E0E0E0"/>
                </a:solidFill>
                <a:latin typeface="Microsoft YaHei"/>
              </a:rPr>
              <a:t>演示日展示成果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Microsoft YaHei"/>
              </a:defRPr>
            </a:pPr>
            <a:r>
              <a:t>第 1 次课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"哇"时刻 + 环境搭建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让学员亲眼看到 AI 的威力，然后装好工具准备上手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FF"/>
                </a:solidFill>
                <a:latin typeface="Microsoft YaHei"/>
              </a:defRPr>
            </a:pPr>
            <a:r>
              <a:t>第一小时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老师现场演示：征集学员想法，10 分钟做出网页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想法引导：选单页、静态、视觉化的项目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展示完整循环：描述 → AI 构建 → 浏览器看结果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备用方案：2-3 个预测试 demo + 预录屏幕录像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FF"/>
                </a:solidFill>
                <a:latin typeface="Microsoft YaHei"/>
              </a:defRPr>
            </a:pPr>
            <a:r>
              <a:t>第二小时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双语安装指南（打印 + 投影）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安装清单：终端 → Node.js → Claude Code → API Key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2 名助教走动帮助 + USB 离线安装备份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提前完成的学员：试用速查卡命令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备用：无法安装的学员用网页版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Microsoft YaHei"/>
              </a:defRPr>
            </a:pPr>
            <a:r>
              <a:t>第 2 次课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AI 思维模型 + 初次动手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建立正确的 AI 认知框架，然后立刻用起来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FF"/>
                </a:solidFill>
                <a:latin typeface="Microsoft YaHei"/>
              </a:defRPr>
            </a:pPr>
            <a:r>
              <a:t>第一小时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前 20 分钟：安装完成缓冲时间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思维模型 1：Claude Code = 初级开发者，你 = 经理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思维模型 2：上下文决定一切（演示好坏对比）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思维模型 3：迭代，而非追求完美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FF"/>
                </a:solidFill>
                <a:latin typeface="Microsoft YaHei"/>
              </a:defRPr>
            </a:pPr>
            <a:r>
              <a:t>第二小时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核心循环练习：描述 → 生成 → 评估 → 优化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练习 1：做一个个人介绍页面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练习 2：修改它（换颜色、加区块、修问题）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核心技能：判断"对"还是"不对，改这里"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Microsoft YaHei"/>
              </a:defRPr>
            </a:pPr>
            <a:r>
              <a:t>第 3 次课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小项目 1 —— 引导式构建 · 上半场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所有人做日程规划器，学会拆需求和搭框架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FF"/>
                </a:solidFill>
                <a:latin typeface="Microsoft YaHei"/>
              </a:defRPr>
            </a:pPr>
            <a:r>
              <a:t>第一小时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需求思维：把大想法拆成小的可构建部分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练习：用日常语言写 5 条需求描述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喂给 Claude Code，观察结果，评估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FF"/>
                </a:solidFill>
                <a:latin typeface="Microsoft YaHei"/>
              </a:defRPr>
            </a:pPr>
            <a:r>
              <a:t>第二小时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按步骤跟做引导式构建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老师走动帮助解决卡点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关键教学：Claude 做了意外的事怎么纠正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个性化：饮食/运动/工作任务各取所需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Microsoft YaHei"/>
              </a:defRPr>
            </a:pPr>
            <a:r>
              <a:t>第 4 次课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小项目 1 —— 引导式构建 · 下半场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添加功能、调试问题、打磨细节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FF"/>
                </a:solidFill>
                <a:latin typeface="Microsoft YaHei"/>
              </a:defRPr>
            </a:pPr>
            <a:r>
              <a:t>第一小时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给工具添加 2-3 个新功能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教学：如何给 AI 提供现有代码上下文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实践：多轮对话，"先读这个文件，然后添加..."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FF"/>
                </a:solidFill>
                <a:latin typeface="Microsoft YaHei"/>
              </a:defRPr>
            </a:pPr>
            <a:r>
              <a:t>第二小时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AI 辅助调试：描述期望 vs 实际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学员修复项目中的问题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打磨：让它更好看，添加收尾细节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🎯 里程碑：每个人都有了一个自己亲手做的可用工具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Microsoft YaHei"/>
              </a:defRPr>
            </a:pPr>
            <a:r>
              <a:t>第 5 次课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小项目 2 —— 半引导式构建 · 上半场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从 4 个模板中选择，写简报，开始独立构建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FF"/>
                </a:solidFill>
                <a:latin typeface="Microsoft YaHei"/>
              </a:defRPr>
            </a:pPr>
            <a:r>
              <a:t>第一小时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模板 A：小型商业着陆页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模板 B：个人作品集/兴趣展示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模板 C：简单互动游戏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模板 D：实用工具（转换器/计时器等）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选择模板，定制需求，写项目简报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FF"/>
                </a:solidFill>
                <a:latin typeface="Microsoft YaHei"/>
              </a:defRPr>
            </a:pPr>
            <a:r>
              <a:t>第二小时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以模板为起点独立构建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老师提供检查点时间线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快慢配对：进度慢的与快的结对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老师审阅简报并提改进建议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Microsoft YaHei"/>
              </a:defRPr>
            </a:pPr>
            <a:r>
              <a:t>第 6 次课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小项目 2 —— 半引导式构建 · 下半场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学习进阶技巧，完成项目并展示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FF"/>
                </a:solidFill>
                <a:latin typeface="Microsoft YaHei"/>
              </a:defRPr>
            </a:pPr>
            <a:r>
              <a:t>第一小时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进阶：Plan Mode（先规划再构建）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进阶：文件组织和上下文管理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学员将进阶技巧应用到项目中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FF"/>
                </a:solidFill>
                <a:latin typeface="Microsoft YaHei"/>
              </a:defRPr>
            </a:pPr>
            <a:r>
              <a:t>第二小时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完成小项目 2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快速展示：向邻座展示（每人 2-3 分钟）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布置作业：带个人项目想法来第 7 次课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发放项目创意菜单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🎯 里程碑：学员做出了自己选择的东西，而不仅是跟着做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Microsoft YaHei"/>
              </a:defRPr>
            </a:pPr>
            <a:r>
              <a:t>第 7 次课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个人项目 —— 你的想法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从想法到原型，老师全程辅导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FF"/>
                </a:solidFill>
                <a:latin typeface="Microsoft YaHei"/>
              </a:defRPr>
            </a:pPr>
            <a:r>
              <a:t>第一小时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写下："我的生活/工作中什么能用软件变简单"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提供 10 个预设项目创意菜单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老师帮助精炼范围（5 条写不完就太大）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写项目简报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FF"/>
                </a:solidFill>
                <a:latin typeface="Microsoft YaHei"/>
              </a:defRPr>
            </a:pPr>
            <a:r>
              <a:t>第二小时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构建冲刺：学员构建个人项目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老师逐个辅导，在座位间走动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原则：帮解决卡点，不代做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让学员有效地挣扎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39C12"/>
                </a:solidFill>
                <a:latin typeface="Microsoft YaHei"/>
              </a:defRPr>
            </a:pPr>
            <a:r>
              <a:t>第 8 次课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完成 + 演示日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打磨项目，展示成果，庆祝毕业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FF"/>
                </a:solidFill>
                <a:latin typeface="Microsoft YaHei"/>
              </a:defRPr>
            </a:pPr>
            <a:r>
              <a:t>第一小时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最后的项目构建和打磨时间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准备 2 分钟演示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（做了什么、怎么做的、学到了什么）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不要求部署，本地演示即可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A86FF"/>
                </a:solidFill>
                <a:latin typeface="Microsoft YaHei"/>
              </a:defRPr>
            </a:pPr>
            <a:r>
              <a:t>第二小时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6517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每位学员展示项目（每人 2 分钟）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庆祝大家的成果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提供"接下来怎么走"资源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建立班级微信群持续学习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Microsoft YaHei"/>
              </a:defRPr>
            </a:pPr>
            <a:r>
              <a:t>🎯 里程碑：课程完成！每位学员都有自己的作品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学员要求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前提条件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600">
                <a:solidFill>
                  <a:srgbClr val="E0E0E0"/>
                </a:solidFill>
                <a:latin typeface="Microsoft YaHei"/>
              </a:rPr>
              <a:t>macOS 10.15+ 或 Windows 10+ 笔记本电脑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600">
                <a:solidFill>
                  <a:srgbClr val="E0E0E0"/>
                </a:solidFill>
                <a:latin typeface="Microsoft YaHei"/>
              </a:rPr>
              <a:t>拥有管理员/安装权限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600">
                <a:solidFill>
                  <a:srgbClr val="E0E0E0"/>
                </a:solidFill>
                <a:latin typeface="Microsoft YaHei"/>
              </a:rPr>
              <a:t>稳定网络连接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600">
                <a:solidFill>
                  <a:srgbClr val="E0E0E0"/>
                </a:solidFill>
                <a:latin typeface="Microsoft YaHei"/>
              </a:rPr>
              <a:t>不需要任何编程经验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课程配置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600">
                <a:solidFill>
                  <a:srgbClr val="E0E0E0"/>
                </a:solidFill>
                <a:latin typeface="Microsoft YaHei"/>
              </a:rPr>
              <a:t>班级规模：10-15 人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600">
                <a:solidFill>
                  <a:srgbClr val="E0E0E0"/>
                </a:solidFill>
                <a:latin typeface="Microsoft YaHei"/>
              </a:rPr>
              <a:t>1 名老师 + 2 名助教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600">
                <a:solidFill>
                  <a:srgbClr val="E0E0E0"/>
                </a:solidFill>
                <a:latin typeface="Microsoft YaHei"/>
              </a:rPr>
              <a:t>中文授课，工具界面英文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600">
                <a:solidFill>
                  <a:srgbClr val="E0E0E0"/>
                </a:solidFill>
                <a:latin typeface="Microsoft YaHei"/>
              </a:rPr>
              <a:t>讲义双语（中文讲解 + 英文命令）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600">
                <a:solidFill>
                  <a:srgbClr val="E0E0E0"/>
                </a:solidFill>
                <a:latin typeface="Microsoft YaHei"/>
              </a:rPr>
              <a:t>每节课约 55 分钟休息 10 分钟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600">
                <a:solidFill>
                  <a:srgbClr val="E0E0E0"/>
                </a:solidFill>
                <a:latin typeface="Microsoft YaHei"/>
              </a:rPr>
              <a:t>技术范围：纯前端 HTML/CSS/JS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成功标准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39C12"/>
                </a:solidFill>
                <a:latin typeface="Microsoft YaHei"/>
              </a:defRPr>
            </a:pPr>
            <a:r>
              <a:t>95%+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第 1 次课结束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1783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学员能执行 Claude Code 命令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77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39C12"/>
                </a:solidFill>
                <a:latin typeface="Microsoft YaHei"/>
              </a:defRPr>
            </a:pPr>
            <a:r>
              <a:t>90%+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第 4 次课结束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697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学员有可工作的小项目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918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39C12"/>
                </a:solidFill>
                <a:latin typeface="Microsoft YaHei"/>
              </a:defRPr>
            </a:pPr>
            <a:r>
              <a:t>80%+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2918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第 8 次课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86000" y="3611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学员有可演示的个人项目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39C12"/>
                </a:solidFill>
                <a:latin typeface="Microsoft YaHei"/>
              </a:defRPr>
            </a:pPr>
            <a:r>
              <a:t>主观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课后反馈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45262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学员表示"我可以自己做了"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206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39C12"/>
                </a:solidFill>
                <a:latin typeface="Microsoft YaHei"/>
              </a:defRPr>
            </a:pPr>
            <a:r>
              <a:t>3+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86000" y="5120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课后追踪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5440679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Microsoft YaHei"/>
              </a:defRPr>
            </a:pPr>
            <a:r>
              <a:t>学员继续独立使用 Claude Code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准备材料清单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教学材料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打印安装指南（覆膜，可重复使用）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速查卡：20 个常用 Claude Code 命令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项目简报模板（填空格式）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故障排除指南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课后资源清单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项目创意菜单（10 个预设想法）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39C12"/>
                </a:solidFill>
                <a:latin typeface="Microsoft YaHei"/>
              </a:defRPr>
            </a:pPr>
            <a:r>
              <a:t>技术准备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92024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2-3 个 Anthropic API Key（分组使用）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USB 驱动器：Node.js 安装包 + 离线包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预录演示视频（API 故障备用）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预缓存的 demo 输出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4 个小项目 2 模板文件夹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F39C12"/>
                </a:solidFill>
                <a:latin typeface="Microsoft YaHei"/>
              </a:rPr>
              <a:t>▸ </a:t>
            </a:r>
            <a:r>
              <a:rPr sz="1500">
                <a:solidFill>
                  <a:srgbClr val="E0E0E0"/>
                </a:solidFill>
                <a:latin typeface="Microsoft YaHei"/>
              </a:rPr>
              <a:t>课前测试 API 并发上限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风险与应对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39C12"/>
                </a:solidFill>
                <a:latin typeface="Microsoft YaHei"/>
              </a:defRPr>
            </a:pPr>
            <a:r>
              <a:t>安装失败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1371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网页版备用 + USB 离线安装 + 第 2 次课缓冲时间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39C12"/>
                </a:solidFill>
                <a:latin typeface="Microsoft YaHei"/>
              </a:defRPr>
            </a:pPr>
            <a:r>
              <a:t>API 故障/限速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2194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预缓存 demo 输出 + 离线练习 + 备用 Key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175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39C12"/>
                </a:solidFill>
                <a:latin typeface="Microsoft YaHei"/>
              </a:defRPr>
            </a:pPr>
            <a:r>
              <a:t>技能差距大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3017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快慢配对 + 差异化检查点 + 多级难度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39C12"/>
                </a:solidFill>
                <a:latin typeface="Microsoft YaHei"/>
              </a:defRPr>
            </a:pPr>
            <a:r>
              <a:t>项目范围膨胀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8404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5 条规则 + 创意菜单 + 老师否决权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39C12"/>
                </a:solidFill>
                <a:latin typeface="Microsoft YaHei"/>
              </a:defRPr>
            </a:pPr>
            <a:r>
              <a:t>学员缺课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4663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微信发课程回顾 + 追赶检查点 + 预录视频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4864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39C12"/>
                </a:solidFill>
                <a:latin typeface="Microsoft YaHei"/>
              </a:defRPr>
            </a:pPr>
            <a:r>
              <a:t>费用顾虑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0E0E0"/>
                </a:solidFill>
                <a:latin typeface="Microsoft YaHei"/>
              </a:defRPr>
            </a:pPr>
            <a:r>
              <a:t>老师提供共享 Key，预算约 $300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Microsoft YaHei"/>
              </a:defRPr>
            </a:pPr>
            <a:r>
              <a:t>下一步行动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Microsoft YaHei"/>
              </a:defRPr>
            </a:pPr>
            <a:r>
              <a:t>立即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0"/>
                </a:solidFill>
                <a:latin typeface="Microsoft YaHei"/>
              </a:defRPr>
            </a:pPr>
            <a:r>
              <a:t>创建第 1 次课安装指南，找 2-3 个零基础朋友测试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Microsoft YaHei"/>
              </a:defRPr>
            </a:pPr>
            <a:r>
              <a:t>第 1 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21488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0"/>
                </a:solidFill>
                <a:latin typeface="Microsoft YaHei"/>
              </a:defRPr>
            </a:pPr>
            <a:r>
              <a:t>制作"哇"时刻演示脚本，练到流畅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Microsoft YaHei"/>
              </a:defRPr>
            </a:pPr>
            <a:r>
              <a:t>第 2 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9260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0"/>
                </a:solidFill>
                <a:latin typeface="Microsoft YaHei"/>
              </a:defRPr>
            </a:pPr>
            <a:r>
              <a:t>端到端设计小项目 1（引导式构建），包括所有检查点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033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Microsoft YaHei"/>
              </a:defRPr>
            </a:pPr>
            <a:r>
              <a:t>第 3 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3703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0"/>
                </a:solidFill>
                <a:latin typeface="Microsoft YaHei"/>
              </a:defRPr>
            </a:pPr>
            <a:r>
              <a:t>创建小项目 2 的 4 个项目模板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480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Microsoft YaHei"/>
              </a:defRPr>
            </a:pPr>
            <a:r>
              <a:t>开课前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480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0"/>
                </a:solidFill>
                <a:latin typeface="Microsoft YaHei"/>
              </a:defRPr>
            </a:pPr>
            <a:r>
              <a:t>找 3-5 人试讲第 1-2 次课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578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Microsoft YaHei"/>
              </a:defRPr>
            </a:pPr>
            <a:r>
              <a:t>开课前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5257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>
                <a:solidFill>
                  <a:srgbClr val="E0E0E0"/>
                </a:solidFill>
                <a:latin typeface="Microsoft YaHei"/>
              </a:defRPr>
            </a:pPr>
            <a:r>
              <a:t>验证网页版备用方案 + 准备共享备用电脑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